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9B6F6"/>
                </a:solidFill>
                <a:latin typeface="Segoe UI"/>
              </a:rPr>
              <a:t>КУРСОВАЯ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2F4F8"/>
                </a:solidFill>
                <a:latin typeface="Segoe UI"/>
              </a:rPr>
              <a:t>Корпоративное хранилище
данных футбольной
статистики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A0A8BC"/>
                </a:solidFill>
                <a:latin typeface="Segoe UI"/>
              </a:rPr>
              <a:t>на основе методологии Data Vault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212080"/>
            <a:ext cx="182880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F4F8"/>
                </a:solidFill>
                <a:latin typeface="Segoe UI"/>
              </a:rPr>
              <a:t>Автор: Семёнов Антон  ·  3 курс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8BC"/>
                </a:solidFill>
                <a:latin typeface="Segoe UI"/>
              </a:rPr>
              <a:t>Стек: Airflow · MinIO · PostgreSQL · Spark · ClickHouse · Superset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Проблема и цель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9B6F6"/>
                </a:solidFill>
                <a:latin typeface="Segoe UI"/>
              </a:rPr>
              <a:t>▸  </a:t>
            </a:r>
            <a:r>
              <a:rPr sz="2000">
                <a:solidFill>
                  <a:srgbClr val="F2F4F8"/>
                </a:solidFill>
                <a:latin typeface="Segoe UI"/>
              </a:rPr>
              <a:t>Спортивная аналитика — растущая индустрия; xG стал стандартной метрикой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9B6F6"/>
                </a:solidFill>
                <a:latin typeface="Segoe UI"/>
              </a:rPr>
              <a:t>▸  </a:t>
            </a:r>
            <a:r>
              <a:rPr sz="2000">
                <a:solidFill>
                  <a:srgbClr val="F2F4F8"/>
                </a:solidFill>
                <a:latin typeface="Segoe UI"/>
              </a:rPr>
              <a:t>Открытые источники (Understat, StatsBomb) дают сырые данные, но без структуры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9B6F6"/>
                </a:solidFill>
                <a:latin typeface="Segoe UI"/>
              </a:rPr>
              <a:t>▸  </a:t>
            </a:r>
            <a:r>
              <a:rPr sz="2000">
                <a:solidFill>
                  <a:srgbClr val="F2F4F8"/>
                </a:solidFill>
                <a:latin typeface="Segoe UI"/>
              </a:rPr>
              <a:t>Коммерческие платформы (FBref, Wyscout, StatsBomb IQ) — закрытый код, дорогие лицензии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242B3D"/>
          </a:solidFill>
          <a:ln w="2540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9B6F6"/>
                </a:solidFill>
                <a:latin typeface="Segoe UI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2F4F8"/>
                </a:solidFill>
                <a:latin typeface="Segoe UI"/>
              </a:rPr>
              <a:t>Спроектировать DWH для футбольной статистики, продемонстрировать применение Data Vault 2.0 на современном open-source стеке.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Источники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486400" cy="4297680"/>
          </a:xfrm>
          <a:prstGeom prst="roundRect">
            <a:avLst/>
          </a:prstGeom>
          <a:solidFill>
            <a:srgbClr val="242B3D"/>
          </a:solidFill>
          <a:ln w="1270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  <a:latin typeface="Segoe UI"/>
              </a:rPr>
              <a:t>UNDERSTAT.COM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F4F8"/>
                </a:solidFill>
                <a:latin typeface="Segoe UI"/>
              </a:rPr>
              <a:t>Основной источник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5029200" cy="2468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HTML-страницы с встроенным JSON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Топ-5 лиг Европы, сезоны 2014+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Метрики: xG, xA, xPTS, PPDA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Расширенная разметка матчей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486400" cy="4297680"/>
          </a:xfrm>
          <a:prstGeom prst="roundRect">
            <a:avLst/>
          </a:prstGeom>
          <a:solidFill>
            <a:srgbClr val="242B3D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BB6A"/>
                </a:solidFill>
                <a:latin typeface="Segoe UI"/>
              </a:rPr>
              <a:t>STATSBOMB OPEN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F4F8"/>
                </a:solidFill>
                <a:latin typeface="Segoe UI"/>
              </a:rPr>
              <a:t>Дополнительный источник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657600"/>
            <a:ext cx="5029200" cy="2468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JSON в публичном GitHub-репо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La Liga (Barcelona-фокус, 2004-2020)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Полный сезон La Liga 2015/16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Детальная событийная разметка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Стек технологий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57600" cy="18288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9B6F6"/>
                </a:solidFill>
                <a:latin typeface="Segoe UI"/>
              </a:rPr>
              <a:t>Apache Airflow 2.9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Оркестрация DAG-ов
Datasets-цепочка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657600" cy="18288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B020"/>
                </a:solidFill>
                <a:latin typeface="Segoe UI"/>
              </a:rPr>
              <a:t>MinIO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S3-совместимый
raw lake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657600" cy="18288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6BB6A"/>
                </a:solidFill>
                <a:latin typeface="Segoe UI"/>
              </a:rPr>
              <a:t>PostgreSQL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OLTP с DV-схемой
+ marts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40"/>
            <a:ext cx="3657600" cy="18288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9B6F6"/>
                </a:solidFill>
                <a:latin typeface="Segoe UI"/>
              </a:rPr>
              <a:t>dbt + datavault4dbt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Сборка RV/BV/Marts
из макросов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977640"/>
            <a:ext cx="3657600" cy="18288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B020"/>
                </a:solidFill>
                <a:latin typeface="Segoe UI"/>
              </a:rPr>
              <a:t>Apache Spark 3.5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8463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Расчёт Elo
перелив витрин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40"/>
            <a:ext cx="3657600" cy="18288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6BB6A"/>
                </a:solidFill>
                <a:latin typeface="Segoe UI"/>
              </a:rPr>
              <a:t>ClickHouse + Superset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8463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OLAP + BI
2 дашборда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Архитектура: C4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c4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0A8BC"/>
                </a:solidFill>
                <a:latin typeface="Segoe UI"/>
              </a:rPr>
              <a:t>Внешние границы Football DWH: один пользователь и два источника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Архитектура: C4 Containers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c4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0A8BC"/>
                </a:solidFill>
                <a:latin typeface="Segoe UI"/>
              </a:rPr>
              <a:t>6 контейнеров и протоколы между ними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Поток данных (DFD)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0A8BC"/>
                </a:solidFill>
                <a:latin typeface="Segoe UI"/>
              </a:rPr>
              <a:t>8 шагов от ingestion до Superset-чартов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Data Vault 2.0: почему именно он?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577840" cy="1920240"/>
          </a:xfrm>
          <a:prstGeom prst="roundRect">
            <a:avLst/>
          </a:prstGeom>
          <a:solidFill>
            <a:srgbClr val="242B3D"/>
          </a:solidFill>
          <a:ln w="1270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B6F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  <a:latin typeface="Segoe UI"/>
              </a:rPr>
              <a:t>MULTI-SOURCE БЕЗ БОЛИ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4F8"/>
                </a:solidFill>
                <a:latin typeface="Segoe UI"/>
              </a:rPr>
              <a:t>Один hub_match для SB и Understat через префикс BK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577840" cy="1920240"/>
          </a:xfrm>
          <a:prstGeom prst="roundRect">
            <a:avLst/>
          </a:prstGeom>
          <a:solidFill>
            <a:srgbClr val="242B3D"/>
          </a:solidFill>
          <a:ln w="1270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B6F6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0312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  <a:latin typeface="Segoe UI"/>
              </a:rPr>
              <a:t>ПОЛНЫЙ АУДИТ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060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4F8"/>
                </a:solidFill>
                <a:latin typeface="Segoe UI"/>
              </a:rPr>
              <a:t>Каждое изменение — новая строка satellite (ldts + hashdiff)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577840" cy="1920240"/>
          </a:xfrm>
          <a:prstGeom prst="roundRect">
            <a:avLst/>
          </a:prstGeom>
          <a:solidFill>
            <a:srgbClr val="242B3D"/>
          </a:solidFill>
          <a:ln w="1270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B6F6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  <a:latin typeface="Segoe UI"/>
              </a:rPr>
              <a:t>ИДЕМПОТЕНТНОСТЬ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0916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4F8"/>
                </a:solidFill>
                <a:latin typeface="Segoe UI"/>
              </a:rPr>
              <a:t>Повторная загрузка не плодит дубли — hashdiff фильтрует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577840" cy="1920240"/>
          </a:xfrm>
          <a:prstGeom prst="roundRect">
            <a:avLst/>
          </a:prstGeom>
          <a:solidFill>
            <a:srgbClr val="242B3D"/>
          </a:solidFill>
          <a:ln w="1270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731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B6F6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20624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  <a:latin typeface="Segoe UI"/>
              </a:rPr>
              <a:t>РАСШИРЯЕМОСТЬ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70916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2F4F8"/>
                </a:solidFill>
                <a:latin typeface="Segoe UI"/>
              </a:rPr>
              <a:t>Третий источник = новый stage. RV не меняется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Data Vault 2.0: Hubs / Links / Satellites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er_data_vaul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0A8BC"/>
                </a:solidFill>
                <a:latin typeface="Segoe UI"/>
              </a:rPr>
              <a:t>5 хабов · 5 линков · 6 сателлитов · MD5-hashing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Витрины и Spark 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B6F6"/>
                </a:solidFill>
                <a:latin typeface="Segoe UI"/>
              </a:rPr>
              <a:t>8 АНАЛИТИЧЕСКИХ ВИТРИН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mart_league_table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317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386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5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mart_top_scorers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1576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11 070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981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mart_match_facts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998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6 943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8386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mart_player_overperformers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838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7 832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6791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mart_team_xg_trend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679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386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mart_sb_la_liga_history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51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360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mart_team_elo_current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360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125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00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  mart_team_elo_history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02005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66BB6A"/>
                </a:solidFill>
                <a:latin typeface="Segoe UI"/>
              </a:rPr>
              <a:t>13 802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828800"/>
            <a:ext cx="5349240" cy="448056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011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020"/>
                </a:solidFill>
                <a:latin typeface="Segoe UI"/>
              </a:rPr>
              <a:t>SPARK: РАСЧЁТ 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2F4F8"/>
                </a:solidFill>
                <a:latin typeface="Segoe UI"/>
              </a:rPr>
              <a:t>Per-league ClubElo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291840"/>
            <a:ext cx="50292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Стартовый рейтинг 1500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K-фактор = 20, home advantage = +100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GD-modifier: ln(|gd|+1) при |gd| ≥ 2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Per-league пул (изолированные лиги)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400">
                <a:solidFill>
                  <a:srgbClr val="F2F4F8"/>
                </a:solidFill>
                <a:latin typeface="Segoe UI"/>
              </a:rPr>
              <a:t>6 943 матча → расчёт &lt; 1 секунды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Перелив PostgreSQL → ClickHouse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2F4F8"/>
                </a:solidFill>
                <a:latin typeface="Segoe UI"/>
              </a:rPr>
              <a:t>Почему через Parquet, а не напрямую?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ClickHouse JDBC-driver не входит в стандартный Spark образ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Spark s3a-writer требует aws-java-sdk-bundle (~273 МБ через Maven)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Maven Central из РФ нестабильно отвечает — connection refused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2377440" cy="9144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2F4F8"/>
                </a:solidFill>
                <a:latin typeface="Segoe UI"/>
              </a:rPr>
              <a:t>PostgreSQL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80" y="5303520"/>
            <a:ext cx="320040" cy="182880"/>
          </a:xfrm>
          <a:prstGeom prst="rightArrow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55321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0A8BC"/>
                </a:solidFill>
                <a:latin typeface="Segoe UI"/>
              </a:rPr>
              <a:t>Spark JDBC.read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937760"/>
            <a:ext cx="2377440" cy="9144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5212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2F4F8"/>
                </a:solidFill>
                <a:latin typeface="Segoe UI"/>
              </a:rPr>
              <a:t>/tmp/parquet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5303520"/>
            <a:ext cx="320040" cy="182880"/>
          </a:xfrm>
          <a:prstGeom prst="rightArrow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55321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0A8BC"/>
                </a:solidFill>
                <a:latin typeface="Segoe UI"/>
              </a:rPr>
              <a:t>mc 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937760"/>
            <a:ext cx="2377440" cy="9144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2F4F8"/>
                </a:solidFill>
                <a:latin typeface="Segoe UI"/>
              </a:rPr>
              <a:t>MinIO marts/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5303520"/>
            <a:ext cx="320040" cy="182880"/>
          </a:xfrm>
          <a:prstGeom prst="rightArrow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55321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0A8BC"/>
                </a:solidFill>
                <a:latin typeface="Segoe UI"/>
              </a:rPr>
              <a:t>INSERT FROM s3()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4937760"/>
            <a:ext cx="2377440" cy="914400"/>
          </a:xfrm>
          <a:prstGeom prst="roundRect">
            <a:avLst/>
          </a:prstGeom>
          <a:solidFill>
            <a:srgbClr val="242B3D"/>
          </a:solidFill>
          <a:ln w="19050">
            <a:solidFill>
              <a:srgbClr val="29B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5212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2F4F8"/>
                </a:solidFill>
                <a:latin typeface="Segoe UI"/>
              </a:rPr>
              <a:t>ClickHouse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Дашборд 1: Football DWH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0A8BC"/>
                </a:solidFill>
                <a:latin typeface="Segoe UI"/>
              </a:rPr>
              <a:t>9 чартов с фильтрами по лиге и сезону</a:t>
            </a:r>
          </a:p>
        </p:txBody>
      </p:sp>
      <p:pic>
        <p:nvPicPr>
          <p:cNvPr id="7" name="Picture 6" descr="01_football_d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9418320" cy="143352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Дашборд 2: European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0A8BC"/>
                </a:solidFill>
                <a:latin typeface="Segoe UI"/>
              </a:rPr>
              <a:t>4 кросс-лиговых чарта без фильтра лиги</a:t>
            </a:r>
          </a:p>
        </p:txBody>
      </p:sp>
      <p:pic>
        <p:nvPicPr>
          <p:cNvPr id="7" name="Picture 6" descr="02_european_t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9418320" cy="14577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0A8BC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2F4F8"/>
                </a:solidFill>
                <a:latin typeface="Segoe UI"/>
              </a:rPr>
              <a:t>Что я узнал и куда дальше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09728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6BB6A"/>
                </a:solidFill>
                <a:latin typeface="Segoe UI"/>
              </a:rPr>
              <a:t>ОСВОЕНО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Data Vault 2.0 на практике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Airflow Datasets-цепочка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Spark JDBC + DataFrame write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Superset Native Filters + REST API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ClickHouse INSERT FROM s3()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020"/>
                </a:solidFill>
                <a:latin typeface="Segoe UI"/>
              </a:rPr>
              <a:t>ДАЛЬШЕ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CI: ruff + sqlfluff + dbt test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Инкрементальные модели (incremental)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ML-надстройка: свой xG-классификатор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Real-time event-stream от StatsBomb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9B6F6"/>
                </a:solidFill>
                <a:latin typeface="Segoe UI"/>
              </a:rPr>
              <a:t>▸  </a:t>
            </a:r>
            <a:r>
              <a:rPr sz="1500">
                <a:solidFill>
                  <a:srgbClr val="F2F4F8"/>
                </a:solidFill>
                <a:latin typeface="Segoe UI"/>
              </a:rPr>
              <a:t>Replace docker exec на SparkSubmitOperator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2F4F8"/>
                </a:solidFill>
                <a:latin typeface="Segoe UI"/>
              </a:rPr>
              <a:t>Спасибо
за внимание!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754880"/>
            <a:ext cx="1828800" cy="3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B6F6"/>
                </a:solidFill>
                <a:latin typeface="Segoe UI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0A8BC"/>
                </a:solidFill>
                <a:latin typeface="Segoe UI"/>
              </a:rPr>
              <a:t>github.com/asemenov2004/football-dwh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